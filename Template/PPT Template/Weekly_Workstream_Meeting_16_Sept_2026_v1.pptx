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2" r:id="rId3"/>
    <p:sldId id="258" r:id="rId5"/>
    <p:sldId id="259" r:id="rId6"/>
    <p:sldId id="26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F3B57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F3B57"/>
                </a:solidFill>
                <a:latin typeface="Calibri" panose="020F0502020204030204"/>
              </a:rPr>
              <a:t>Execution vs Overall Pass Rate (%)</a:t>
            </a:r>
            <a:endParaRPr sz="1100" b="0" i="0" u="none" strike="noStrike">
              <a:solidFill>
                <a:srgbClr val="0F3B57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Rate</c:v>
                </c:pt>
              </c:strCache>
            </c:strRef>
          </c:tx>
          <c:spPr>
            <a:solidFill>
              <a:srgbClr val="0F3B57"/>
            </a:solidFill>
            <a:effectLst/>
          </c:spPr>
          <c:invertIfNegative val="0"/>
          <c:dLbls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900" b="0" i="0" u="none" strike="noStrike" kern="1200" baseline="0">
                        <a:solidFill>
                          <a:srgbClr val="5B6670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3</a:t>
                    </a:r>
                    <a:r>
                      <a:rPr lang="en-IN" altLang="en-US"/>
                      <a:t>6</a:t>
                    </a:r>
                    <a: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5B66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General UG</c:v>
                </c:pt>
                <c:pt idx="1">
                  <c:v>Life UG</c:v>
                </c:pt>
                <c:pt idx="2">
                  <c:v>General TZ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39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Pass Rate</c:v>
                </c:pt>
              </c:strCache>
            </c:strRef>
          </c:tx>
          <c:spPr>
            <a:solidFill>
              <a:srgbClr val="F05323"/>
            </a:solidFill>
            <a:effectLst/>
          </c:spPr>
          <c:invertIfNegative val="0"/>
          <c:dLbls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900" b="0" i="0" u="none" strike="noStrike" kern="1200" baseline="0">
                        <a:solidFill>
                          <a:srgbClr val="5B6670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t>3</a:t>
                    </a:r>
                    <a:r>
                      <a:rPr lang="en-IN" altLang="en-US"/>
                      <a:t>4</a:t>
                    </a:r>
                    <a: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5B66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General UG</c:v>
                </c:pt>
                <c:pt idx="1">
                  <c:v>Life UG</c:v>
                </c:pt>
                <c:pt idx="2">
                  <c:v>General TZ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36</c:v>
                </c:pt>
                <c:pt idx="2">
                  <c:v>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5B6670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46afc99-d233-4fef-bbf4-bf55c3d50be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workstream status review — Kenya Sprint 3, SIT (QA) execution and defect summary for Gen UG, Life UG and Gen TZ. Date: 16 Sept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 Sprint 3: 61 cases — 9 passed, 0 failed, 4 blocked, 5 in progress, 43 not executed. Execution rate 16%, overall pass rate 16%. Unchanged week on week; build still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Uganda: 199 cases, execution 34%, pass 31%. Life Uganda: 201 cases, execution 39%, pass 36%. General Tanzania: 126 cases, execution 22%, pass 19%. General Ledger is the largest untouched block in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Defects: General Uganda 3 pending (Fixed Assets Management); Life Uganda 3 pending (Fixed Assets Management); General Tanzania 3 pending across Fixed Assets, Cash and Bank and Procurement. Closure and resolution rates 0% in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pic>
        <p:nvPicPr>
          <p:cNvPr id="3" name="Image 1" descr="/home/claude/unpacked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3840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378440" y="347472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5" name="Image 2" descr="/home/claude/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75488"/>
            <a:ext cx="1115568" cy="76809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94360" y="2286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WORKSTREAM MEETING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65176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Weekly Workstream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Meeting</a:t>
            </a:r>
            <a:endParaRPr lang="en-US" sz="4000" dirty="0"/>
          </a:p>
        </p:txBody>
      </p:sp>
      <p:sp>
        <p:nvSpPr>
          <p:cNvPr id="8" name="Shape 3"/>
          <p:cNvSpPr/>
          <p:nvPr/>
        </p:nvSpPr>
        <p:spPr>
          <a:xfrm>
            <a:off x="594360" y="4224528"/>
            <a:ext cx="2834640" cy="0"/>
          </a:xfrm>
          <a:prstGeom prst="line">
            <a:avLst/>
          </a:prstGeom>
          <a:noFill/>
          <a:ln w="22225">
            <a:solidFill>
              <a:srgbClr val="C99D00"/>
            </a:solidFill>
            <a:prstDash val="solid"/>
          </a:ln>
        </p:spPr>
        <p:txBody>
          <a:bodyPr/>
          <a:p/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Date:  </a:t>
            </a:r>
            <a:r>
              <a:rPr lang="en-US" sz="15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Sept 2026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11548872" y="6336792"/>
            <a:ext cx="320040" cy="274320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11548872" y="6336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31520" cy="521208"/>
          </a:xfrm>
          <a:prstGeom prst="rect">
            <a:avLst/>
          </a:prstGeom>
        </p:spPr>
      </p:pic>
      <p:pic>
        <p:nvPicPr>
          <p:cNvPr id="3" name="Image 1" descr="/home/claude/unpacked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02336"/>
            <a:ext cx="1280160" cy="2926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21208" y="89611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05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KENYA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84632" y="111556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Kenya – Sprint 3 (as on 1</a:t>
            </a:r>
            <a:r>
              <a:rPr lang="en-IN" altLang="en-US" sz="26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r>
              <a:rPr lang="en-US" sz="26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 Sept)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7635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731520" y="1938528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3  |  General Kenya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31520" y="2286000"/>
          <a:ext cx="9144000" cy="1536192"/>
        </p:xfrm>
        <a:graphic>
          <a:graphicData uri="http://schemas.openxmlformats.org/drawingml/2006/table">
            <a:tbl>
              <a:tblPr/>
              <a:tblGrid>
                <a:gridCol w="1737360"/>
                <a:gridCol w="713232"/>
                <a:gridCol w="713232"/>
                <a:gridCol w="749808"/>
                <a:gridCol w="896112"/>
                <a:gridCol w="1005840"/>
                <a:gridCol w="658368"/>
                <a:gridCol w="704088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 Progress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Executed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 Rate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Budgeting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Reinsurance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366760" y="1783080"/>
            <a:ext cx="3319272" cy="1133856"/>
          </a:xfrm>
          <a:prstGeom prst="roundRect">
            <a:avLst>
              <a:gd name="adj" fmla="val 5645"/>
            </a:avLst>
          </a:prstGeom>
          <a:solidFill>
            <a:srgbClr val="0F3B57"/>
          </a:solidFill>
          <a:ln w="12700">
            <a:solidFill>
              <a:srgbClr val="0F3B57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8613648" y="191109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9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RATE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8613648" y="2130552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16%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8613648" y="260604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4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3 · General Kenya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366760" y="3026664"/>
            <a:ext cx="331927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8613648" y="315468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PASS RATE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613648" y="3374136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16%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8613648" y="3849624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3 · General Kenya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4526280"/>
            <a:ext cx="111831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4873752"/>
            <a:ext cx="310896" cy="310896"/>
          </a:xfrm>
          <a:prstGeom prst="ellipse">
            <a:avLst/>
          </a:prstGeom>
          <a:solidFill>
            <a:srgbClr val="FCEFD4"/>
          </a:solidFill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73252" y="4969764"/>
            <a:ext cx="118872" cy="118872"/>
          </a:xfrm>
          <a:prstGeom prst="ellipse">
            <a:avLst/>
          </a:prstGeom>
          <a:solidFill>
            <a:srgbClr val="8A5A00"/>
          </a:solidFill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1234440" y="473659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5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NOTE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234440" y="4974336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3 execution status remains constant with the previous weekly report status, as the build is still in progress.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731520" cy="521208"/>
          </a:xfrm>
          <a:prstGeom prst="rect">
            <a:avLst/>
          </a:prstGeom>
        </p:spPr>
      </p:pic>
      <p:pic>
        <p:nvPicPr>
          <p:cNvPr id="3" name="Image 1" descr="/home/claude/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02336"/>
            <a:ext cx="1280160" cy="2926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21208" y="89611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05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 (QA)  |  EXECUTION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84632" y="111556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SIT (QA) Execution Report Summary for Gen UG, Life UG &amp; Gen TZ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719072"/>
            <a:ext cx="5486400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85800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Uganda  |  SIT (QA)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18653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Exec.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34%</a:t>
            </a: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Pass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58368" y="2139696"/>
          <a:ext cx="9144000" cy="1316736"/>
        </p:xfrm>
        <a:graphic>
          <a:graphicData uri="http://schemas.openxmlformats.org/drawingml/2006/table">
            <a:tbl>
              <a:tblPr/>
              <a:tblGrid>
                <a:gridCol w="1645920"/>
                <a:gridCol w="429768"/>
                <a:gridCol w="429768"/>
                <a:gridCol w="484632"/>
                <a:gridCol w="566928"/>
                <a:gridCol w="658368"/>
                <a:gridCol w="384048"/>
                <a:gridCol w="576072"/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 Progress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Executed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 Rate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Procurement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 and Bank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59%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 Ledger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6199632" y="1719072"/>
            <a:ext cx="5486400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6382512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 Uganda  |  SIT (QA)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125712" y="18653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Exec.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IN" alt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</a:t>
            </a: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Pass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IN" alt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</a:t>
            </a:r>
            <a:endParaRPr lang="en-US" sz="9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6355080" y="2139696"/>
          <a:ext cx="9144000" cy="1536192"/>
        </p:xfrm>
        <a:graphic>
          <a:graphicData uri="http://schemas.openxmlformats.org/drawingml/2006/table">
            <a:tbl>
              <a:tblPr/>
              <a:tblGrid>
                <a:gridCol w="1645920"/>
                <a:gridCol w="429768"/>
                <a:gridCol w="429768"/>
                <a:gridCol w="484632"/>
                <a:gridCol w="566928"/>
                <a:gridCol w="658368"/>
                <a:gridCol w="384048"/>
                <a:gridCol w="576072"/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 Progress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Executed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 Rate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Intergations (ILMS)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C6E3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Procurement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 and Bank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75%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 Ledger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2920" y="4096512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Text 11"/>
          <p:cNvSpPr txBox="1"/>
          <p:nvPr/>
        </p:nvSpPr>
        <p:spPr>
          <a:xfrm>
            <a:off x="685800" y="4224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Tanzania  |  SIT (QA)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3429000" y="424281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Exec.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r>
              <a:rPr lang="en-US" sz="950" dirty="0">
                <a:solidFill>
                  <a:srgbClr val="8A95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Pass </a:t>
            </a:r>
            <a:r>
              <a:rPr lang="en-US" sz="95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19%</a:t>
            </a:r>
            <a:endParaRPr lang="en-US" sz="9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/>
        </p:nvGraphicFramePr>
        <p:xfrm>
          <a:off x="658368" y="4517136"/>
          <a:ext cx="9144000" cy="1316736"/>
        </p:xfrm>
        <a:graphic>
          <a:graphicData uri="http://schemas.openxmlformats.org/drawingml/2006/table">
            <a:tbl>
              <a:tblPr/>
              <a:tblGrid>
                <a:gridCol w="1645920"/>
                <a:gridCol w="429768"/>
                <a:gridCol w="429768"/>
                <a:gridCol w="484632"/>
                <a:gridCol w="566928"/>
                <a:gridCol w="658368"/>
                <a:gridCol w="384048"/>
                <a:gridCol w="576072"/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 Progress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Executed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 Rate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Procurement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 and Bank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 Ledger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126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19%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</a:tr>
            </a:tbl>
          </a:graphicData>
        </a:graphic>
      </p:graphicFrame>
      <p:sp>
        <p:nvSpPr>
          <p:cNvPr id="20" name="Shape 13"/>
          <p:cNvSpPr/>
          <p:nvPr/>
        </p:nvSpPr>
        <p:spPr>
          <a:xfrm>
            <a:off x="6199632" y="4096512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graphicFrame>
        <p:nvGraphicFramePr>
          <p:cNvPr id="21" name="Chart 0"/>
          <p:cNvGraphicFramePr/>
          <p:nvPr/>
        </p:nvGraphicFramePr>
        <p:xfrm>
          <a:off x="6355080" y="4187952"/>
          <a:ext cx="5175504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731520" cy="521208"/>
          </a:xfrm>
          <a:prstGeom prst="rect">
            <a:avLst/>
          </a:prstGeom>
        </p:spPr>
      </p:pic>
      <p:pic>
        <p:nvPicPr>
          <p:cNvPr id="3" name="Image 1" descr="/home/claude/unpacked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02336"/>
            <a:ext cx="1280160" cy="2926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11548872" y="63550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21208" y="89611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053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 (QA)  |  DEFECTS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84632" y="111556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SIT (QA) Defect Summary for Gen UG, Life UG &amp; Gen TZ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691640"/>
            <a:ext cx="11183112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713232" y="1792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Uganda Defect Summary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13232" y="2066544"/>
          <a:ext cx="9144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60120"/>
                <a:gridCol w="1051560"/>
                <a:gridCol w="868680"/>
                <a:gridCol w="1005840"/>
                <a:gridCol w="868680"/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Deferred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Pending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2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9281160" y="208483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9281160" y="208483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Closure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9281160" y="246888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9281160" y="24688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02920" y="3081528"/>
            <a:ext cx="11183112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713232" y="31821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 Uganda Defect Summary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713232" y="3456432"/>
          <a:ext cx="9144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60120"/>
                <a:gridCol w="1051560"/>
                <a:gridCol w="868680"/>
                <a:gridCol w="1005840"/>
                <a:gridCol w="868680"/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Deferred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Pending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2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9281160" y="34747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 txBox="1"/>
          <p:nvPr/>
        </p:nvSpPr>
        <p:spPr>
          <a:xfrm>
            <a:off x="9281160" y="34747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Closure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281160" y="3858768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9281160" y="385876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4471416"/>
            <a:ext cx="11183112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  <a:effectLst>
            <a:outerShdw blurRad="127000" dist="25400" dir="5400000" algn="bl" rotWithShape="0">
              <a:srgbClr val="8FA6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713232" y="457200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Tanzania Defect Summary</a:t>
            </a:r>
            <a:endParaRPr lang="en-US" sz="1200" dirty="0"/>
          </a:p>
        </p:txBody>
      </p:sp>
      <p:graphicFrame>
        <p:nvGraphicFramePr>
          <p:cNvPr id="24" name="Table 2"/>
          <p:cNvGraphicFramePr>
            <a:graphicFrameLocks noGrp="1"/>
          </p:cNvGraphicFramePr>
          <p:nvPr/>
        </p:nvGraphicFramePr>
        <p:xfrm>
          <a:off x="713232" y="4846320"/>
          <a:ext cx="9144000" cy="1280160"/>
        </p:xfrm>
        <a:graphic>
          <a:graphicData uri="http://schemas.openxmlformats.org/drawingml/2006/table">
            <a:tbl>
              <a:tblPr/>
              <a:tblGrid>
                <a:gridCol w="3566160"/>
                <a:gridCol w="960120"/>
                <a:gridCol w="1051560"/>
                <a:gridCol w="868680"/>
                <a:gridCol w="1005840"/>
                <a:gridCol w="868680"/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Deferred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Pending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Assets Management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 and Bank Management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Procurement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59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331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2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3B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381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0"/>
                    </a:solidFill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9281160" y="4864608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 txBox="1"/>
          <p:nvPr/>
        </p:nvSpPr>
        <p:spPr>
          <a:xfrm>
            <a:off x="9281160" y="486460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Closure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281160" y="5248656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5F8FA"/>
          </a:solidFill>
          <a:ln w="9525">
            <a:solidFill>
              <a:srgbClr val="DCE5EB"/>
            </a:solidFill>
            <a:prstDash val="solid"/>
          </a:ln>
        </p:spPr>
        <p:txBody>
          <a:bodyPr/>
          <a:p/>
        </p:txBody>
      </p:sp>
      <p:sp>
        <p:nvSpPr>
          <p:cNvPr id="28" name="Text 21"/>
          <p:cNvSpPr txBox="1"/>
          <p:nvPr/>
        </p:nvSpPr>
        <p:spPr>
          <a:xfrm>
            <a:off x="9281160" y="524865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Rate  </a:t>
            </a:r>
            <a:r>
              <a:rPr lang="en-US" sz="1000" b="1" dirty="0">
                <a:solidFill>
                  <a:srgbClr val="0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1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3840480" cy="6858000"/>
          </a:xfrm>
          <a:prstGeom prst="rect">
            <a:avLst/>
          </a:prstGeom>
        </p:spPr>
      </p:pic>
      <p:pic>
        <p:nvPicPr>
          <p:cNvPr id="3" name="Image 1" descr="/home/claude/unpacked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4" y="384048"/>
            <a:ext cx="1325880" cy="3017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0" y="269748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3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4572000" y="3767328"/>
            <a:ext cx="2011680" cy="384048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4572000" y="37673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www.simplify3x.com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812280" y="3959352"/>
            <a:ext cx="4846320" cy="0"/>
          </a:xfrm>
          <a:prstGeom prst="line">
            <a:avLst/>
          </a:prstGeom>
          <a:noFill/>
          <a:ln w="15875">
            <a:solidFill>
              <a:srgbClr val="C99D00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548872" y="6336792"/>
            <a:ext cx="320040" cy="274320"/>
          </a:xfrm>
          <a:prstGeom prst="rect">
            <a:avLst/>
          </a:prstGeom>
          <a:solidFill>
            <a:srgbClr val="F05323"/>
          </a:solidFill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11548872" y="6336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1884</Words>
  <Application>WPS Presentation</Application>
  <PresentationFormat>On-screen Show (16:9)</PresentationFormat>
  <Paragraphs>581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Simplify3x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Workstream Meeting - 16 Sept 2026</dc:title>
  <dc:creator>Simplify3x</dc:creator>
  <dc:subject>PptxGenJS Presentation</dc:subject>
  <cp:lastModifiedBy>WPS_1774380132</cp:lastModifiedBy>
  <cp:revision>4</cp:revision>
  <dcterms:created xsi:type="dcterms:W3CDTF">2026-09-15T09:03:00Z</dcterms:created>
  <dcterms:modified xsi:type="dcterms:W3CDTF">2026-09-15T10:23:15Z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DF5F9F5765C844F7A19122801CB5890D_12</vt:lpwstr>
  </property>
  <property fmtid="{D5CDD505-2E9C-101B-9397-08002B2CF9AE}" pid="3" name="KSOProductBuildVer">
    <vt:lpwstr>1033-12.1.0.28485</vt:lpwstr>
  </property>
</Properties>
</file>